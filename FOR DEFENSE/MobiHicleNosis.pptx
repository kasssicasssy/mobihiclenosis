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5" r:id="rId1"/>
  </p:sldMasterIdLst>
  <p:notesMasterIdLst>
    <p:notesMasterId r:id="rId15"/>
  </p:notesMasterIdLst>
  <p:sldIdLst>
    <p:sldId id="256" r:id="rId2"/>
    <p:sldId id="265" r:id="rId3"/>
    <p:sldId id="266" r:id="rId4"/>
    <p:sldId id="258" r:id="rId5"/>
    <p:sldId id="259" r:id="rId6"/>
    <p:sldId id="260" r:id="rId7"/>
    <p:sldId id="267" r:id="rId8"/>
    <p:sldId id="261" r:id="rId9"/>
    <p:sldId id="270" r:id="rId10"/>
    <p:sldId id="262" r:id="rId11"/>
    <p:sldId id="263"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C9AFD-8634-431B-A432-3A1F5362A90C}" type="datetimeFigureOut">
              <a:rPr lang="en-US" smtClean="0"/>
              <a:t>10/8/2015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5600D-FE46-478A-9397-22508AFDDA4C}" type="slidenum">
              <a:rPr lang="en-US" smtClean="0"/>
              <a:t>‹#›</a:t>
            </a:fld>
            <a:endParaRPr lang="en-US"/>
          </a:p>
        </p:txBody>
      </p:sp>
    </p:spTree>
    <p:extLst>
      <p:ext uri="{BB962C8B-B14F-4D97-AF65-F5344CB8AC3E}">
        <p14:creationId xmlns:p14="http://schemas.microsoft.com/office/powerpoint/2010/main" val="1434440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7200"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5395482-CB9F-47AD-8C19-69D58C154D77}" type="datetimeFigureOut">
              <a:rPr lang="en-US" smtClean="0"/>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b="0"/>
            </a:lvl1pPr>
          </a:lstStyle>
          <a:p>
            <a:fld id="{BDABAE4E-8453-4220-A07D-04D105689E5A}" type="slidenum">
              <a:rPr lang="en-US" smtClean="0"/>
              <a:t>‹#›</a:t>
            </a:fld>
            <a:endParaRPr lang="en-US"/>
          </a:p>
        </p:txBody>
      </p:sp>
    </p:spTree>
    <p:extLst>
      <p:ext uri="{BB962C8B-B14F-4D97-AF65-F5344CB8AC3E}">
        <p14:creationId xmlns:p14="http://schemas.microsoft.com/office/powerpoint/2010/main" val="4609431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5395482-CB9F-47AD-8C19-69D58C154D77}" type="datetimeFigureOut">
              <a:rPr lang="en-US" smtClean="0"/>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32386958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5395482-CB9F-47AD-8C19-69D58C154D77}" type="datetimeFigureOut">
              <a:rPr lang="en-US" smtClean="0"/>
              <a:t>10/8/2015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DABAE4E-8453-4220-A07D-04D105689E5A}" type="slidenum">
              <a:rPr lang="en-US" smtClean="0"/>
              <a:t>‹#›</a:t>
            </a:fld>
            <a:endParaRPr lang="en-US"/>
          </a:p>
        </p:txBody>
      </p:sp>
    </p:spTree>
    <p:extLst>
      <p:ext uri="{BB962C8B-B14F-4D97-AF65-F5344CB8AC3E}">
        <p14:creationId xmlns:p14="http://schemas.microsoft.com/office/powerpoint/2010/main" val="8212445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395482-CB9F-47AD-8C19-69D58C154D77}" type="datetimeFigureOut">
              <a:rPr lang="en-US" smtClean="0"/>
              <a:t>10/8/2015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1535339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5395482-CB9F-47AD-8C19-69D58C154D77}" type="datetimeFigureOut">
              <a:rPr lang="en-US" smtClean="0"/>
              <a:t>10/8/2015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24089887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5395482-CB9F-47AD-8C19-69D58C154D77}" type="datetimeFigureOut">
              <a:rPr lang="en-US" smtClean="0"/>
              <a:t>10/8/2015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1902676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95482-CB9F-47AD-8C19-69D58C154D77}" type="datetimeFigureOut">
              <a:rPr lang="en-US" smtClean="0"/>
              <a:t>10/8/2015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34508958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95482-CB9F-47AD-8C19-69D58C154D77}" type="datetimeFigureOut">
              <a:rPr lang="en-US" smtClean="0"/>
              <a:t>10/8/2015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3873078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95482-CB9F-47AD-8C19-69D58C154D77}" type="datetimeFigureOut">
              <a:rPr lang="en-US" smtClean="0"/>
              <a:t>10/8/2015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1983593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5395482-CB9F-47AD-8C19-69D58C154D77}" type="datetimeFigureOut">
              <a:rPr lang="en-US" smtClean="0"/>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1823211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5395482-CB9F-47AD-8C19-69D58C154D77}" type="datetimeFigureOut">
              <a:rPr lang="en-US" smtClean="0"/>
              <a:t>10/8/2015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ABAE4E-8453-4220-A07D-04D105689E5A}" type="slidenum">
              <a:rPr lang="en-US" smtClean="0"/>
              <a:t>‹#›</a:t>
            </a:fld>
            <a:endParaRPr lang="en-US"/>
          </a:p>
        </p:txBody>
      </p:sp>
    </p:spTree>
    <p:extLst>
      <p:ext uri="{BB962C8B-B14F-4D97-AF65-F5344CB8AC3E}">
        <p14:creationId xmlns:p14="http://schemas.microsoft.com/office/powerpoint/2010/main" val="8047969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5395482-CB9F-47AD-8C19-69D58C154D77}" type="datetimeFigureOut">
              <a:rPr lang="en-US" smtClean="0"/>
              <a:t>10/8/2015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0">
                <a:solidFill>
                  <a:srgbClr val="FFFFFF"/>
                </a:solidFill>
                <a:latin typeface="+mj-lt"/>
              </a:defRPr>
            </a:lvl1pPr>
          </a:lstStyle>
          <a:p>
            <a:fld id="{BDABAE4E-8453-4220-A07D-04D105689E5A}" type="slidenum">
              <a:rPr lang="en-US" smtClean="0"/>
              <a:t>‹#›</a:t>
            </a:fld>
            <a:endParaRPr lang="en-US"/>
          </a:p>
        </p:txBody>
      </p:sp>
    </p:spTree>
    <p:extLst>
      <p:ext uri="{BB962C8B-B14F-4D97-AF65-F5344CB8AC3E}">
        <p14:creationId xmlns:p14="http://schemas.microsoft.com/office/powerpoint/2010/main" val="477685389"/>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800"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gif"/></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0" name="Picture 2" descr="http://www.rose-hulman.edu/DSPFirst/visible3/graphics/chirpcov.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42" y="1857828"/>
            <a:ext cx="9216571" cy="217375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ctrTitle"/>
          </p:nvPr>
        </p:nvSpPr>
        <p:spPr>
          <a:xfrm>
            <a:off x="1512324" y="2190447"/>
            <a:ext cx="9966960" cy="1260977"/>
          </a:xfrm>
        </p:spPr>
        <p:txBody>
          <a:bodyPr/>
          <a:lstStyle/>
          <a:p>
            <a:pPr algn="just"/>
            <a:r>
              <a:rPr lang="en-PH" dirty="0" err="1" smtClean="0"/>
              <a:t>MobiHicleNosis</a:t>
            </a:r>
            <a:endParaRPr lang="en-US" dirty="0"/>
          </a:p>
        </p:txBody>
      </p:sp>
      <p:sp>
        <p:nvSpPr>
          <p:cNvPr id="5" name="Subtitle 4"/>
          <p:cNvSpPr>
            <a:spLocks noGrp="1"/>
          </p:cNvSpPr>
          <p:nvPr>
            <p:ph type="subTitle" idx="1"/>
          </p:nvPr>
        </p:nvSpPr>
        <p:spPr>
          <a:xfrm>
            <a:off x="1069848" y="4389119"/>
            <a:ext cx="7891272" cy="2084252"/>
          </a:xfrm>
        </p:spPr>
        <p:txBody>
          <a:bodyPr>
            <a:normAutofit/>
          </a:bodyPr>
          <a:lstStyle/>
          <a:p>
            <a:endParaRPr lang="en-PH" sz="1600" dirty="0"/>
          </a:p>
          <a:p>
            <a:r>
              <a:rPr lang="en-PH" sz="2000" dirty="0" smtClean="0"/>
              <a:t>Alivio, </a:t>
            </a:r>
            <a:r>
              <a:rPr lang="en-PH" sz="2000" dirty="0" err="1" smtClean="0"/>
              <a:t>Casielyn</a:t>
            </a:r>
            <a:r>
              <a:rPr lang="en-PH" sz="2000" dirty="0" smtClean="0"/>
              <a:t> Angelia</a:t>
            </a:r>
          </a:p>
          <a:p>
            <a:r>
              <a:rPr lang="en-PH" sz="2000" dirty="0" smtClean="0"/>
              <a:t>Miraballes, Ma. Ana Casandra</a:t>
            </a:r>
          </a:p>
          <a:p>
            <a:r>
              <a:rPr lang="en-PH" sz="1400" dirty="0" smtClean="0"/>
              <a:t>BSCS 4-2</a:t>
            </a:r>
          </a:p>
          <a:p>
            <a:r>
              <a:rPr lang="en-PH" sz="1400" dirty="0" smtClean="0"/>
              <a:t>Computer Science Research</a:t>
            </a:r>
            <a:endParaRPr lang="en-US" sz="14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804" y="4549501"/>
            <a:ext cx="3145324" cy="1763487"/>
          </a:xfrm>
          <a:prstGeom prst="rect">
            <a:avLst/>
          </a:prstGeom>
        </p:spPr>
      </p:pic>
      <p:sp>
        <p:nvSpPr>
          <p:cNvPr id="3" name="Rectangle 2"/>
          <p:cNvSpPr/>
          <p:nvPr/>
        </p:nvSpPr>
        <p:spPr>
          <a:xfrm>
            <a:off x="1512324" y="3784043"/>
            <a:ext cx="6096000" cy="646331"/>
          </a:xfrm>
          <a:prstGeom prst="rect">
            <a:avLst/>
          </a:prstGeom>
        </p:spPr>
        <p:txBody>
          <a:bodyPr>
            <a:spAutoFit/>
          </a:bodyPr>
          <a:lstStyle/>
          <a:p>
            <a:r>
              <a:rPr lang="en-PH" b="1" dirty="0"/>
              <a:t>A Mobile-based Application for Vehicle Fault Diagnosis using Fuzzy Logic</a:t>
            </a:r>
            <a:endParaRPr lang="en-US" dirty="0"/>
          </a:p>
        </p:txBody>
      </p:sp>
    </p:spTree>
    <p:extLst>
      <p:ext uri="{BB962C8B-B14F-4D97-AF65-F5344CB8AC3E}">
        <p14:creationId xmlns:p14="http://schemas.microsoft.com/office/powerpoint/2010/main" val="561682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856920" y="3334871"/>
            <a:ext cx="5342174" cy="3496772"/>
            <a:chOff x="455839" y="439225"/>
            <a:chExt cx="5807345" cy="3932204"/>
          </a:xfrm>
        </p:grpSpPr>
        <p:pic>
          <p:nvPicPr>
            <p:cNvPr id="3074" name="Picture 2" descr="Manila traffic  (Photo courtesy of PanoBaMagBlog on WordP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839" y="439225"/>
              <a:ext cx="5117348" cy="3515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55839" y="4002097"/>
              <a:ext cx="5807345" cy="369332"/>
            </a:xfrm>
            <a:prstGeom prst="rect">
              <a:avLst/>
            </a:prstGeom>
            <a:noFill/>
          </p:spPr>
          <p:txBody>
            <a:bodyPr wrap="square" rtlCol="0">
              <a:spAutoFit/>
            </a:bodyPr>
            <a:lstStyle/>
            <a:p>
              <a:r>
                <a:rPr lang="en-PH" dirty="0" smtClean="0">
                  <a:solidFill>
                    <a:schemeClr val="accent1">
                      <a:lumMod val="50000"/>
                    </a:schemeClr>
                  </a:solidFill>
                </a:rPr>
                <a:t>Source: </a:t>
              </a:r>
              <a:r>
                <a:rPr lang="en-PH" dirty="0">
                  <a:solidFill>
                    <a:schemeClr val="accent1">
                      <a:lumMod val="50000"/>
                    </a:schemeClr>
                  </a:solidFill>
                </a:rPr>
                <a:t>http://www.canadianinquirer.net/</a:t>
              </a:r>
              <a:endParaRPr lang="en-US" dirty="0">
                <a:solidFill>
                  <a:schemeClr val="accent1">
                    <a:lumMod val="50000"/>
                  </a:schemeClr>
                </a:solidFill>
              </a:endParaRPr>
            </a:p>
          </p:txBody>
        </p:sp>
      </p:grpSp>
      <p:pic>
        <p:nvPicPr>
          <p:cNvPr id="6" name="Picture 2" descr="http://humanenginedoctor.com/splash-images/car_accident_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140802">
            <a:off x="5861931" y="782962"/>
            <a:ext cx="5414667" cy="263771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7106476" y="3632436"/>
            <a:ext cx="4473020" cy="3225564"/>
            <a:chOff x="7106476" y="3632436"/>
            <a:chExt cx="4473020" cy="3225564"/>
          </a:xfrm>
        </p:grpSpPr>
        <p:pic>
          <p:nvPicPr>
            <p:cNvPr id="7" name="Picture 4" descr="http://scrapcarontario.com/images/car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9496" y="3632436"/>
              <a:ext cx="3810000" cy="25146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7106476" y="6211669"/>
              <a:ext cx="4211474" cy="646331"/>
            </a:xfrm>
            <a:prstGeom prst="rect">
              <a:avLst/>
            </a:prstGeom>
          </p:spPr>
          <p:txBody>
            <a:bodyPr wrap="none">
              <a:spAutoFit/>
            </a:bodyPr>
            <a:lstStyle/>
            <a:p>
              <a:r>
                <a:rPr lang="en-US" dirty="0" smtClean="0">
                  <a:solidFill>
                    <a:schemeClr val="accent1">
                      <a:lumMod val="50000"/>
                    </a:schemeClr>
                  </a:solidFill>
                  <a:latin typeface="arial" panose="020B0604020202020204" pitchFamily="34" charset="0"/>
                </a:rPr>
                <a:t>Sources: caraccidentever.blogspot.com</a:t>
              </a:r>
              <a:br>
                <a:rPr lang="en-US" dirty="0" smtClean="0">
                  <a:solidFill>
                    <a:schemeClr val="accent1">
                      <a:lumMod val="50000"/>
                    </a:schemeClr>
                  </a:solidFill>
                  <a:latin typeface="arial" panose="020B0604020202020204" pitchFamily="34" charset="0"/>
                </a:rPr>
              </a:br>
              <a:r>
                <a:rPr lang="en-US" dirty="0" smtClean="0">
                  <a:solidFill>
                    <a:schemeClr val="accent1">
                      <a:lumMod val="50000"/>
                    </a:schemeClr>
                  </a:solidFill>
                  <a:latin typeface="arial" panose="020B0604020202020204" pitchFamily="34" charset="0"/>
                </a:rPr>
                <a:t>	 </a:t>
              </a:r>
              <a:r>
                <a:rPr lang="en-US" dirty="0" smtClean="0">
                  <a:solidFill>
                    <a:schemeClr val="accent1">
                      <a:lumMod val="50000"/>
                    </a:schemeClr>
                  </a:solidFill>
                </a:rPr>
                <a:t>scrapcarontario.com</a:t>
              </a:r>
              <a:endParaRPr lang="en-US" dirty="0">
                <a:solidFill>
                  <a:schemeClr val="accent1">
                    <a:lumMod val="50000"/>
                  </a:schemeClr>
                </a:solidFill>
              </a:endParaRPr>
            </a:p>
          </p:txBody>
        </p:sp>
      </p:grpSp>
      <p:grpSp>
        <p:nvGrpSpPr>
          <p:cNvPr id="11" name="Group 10"/>
          <p:cNvGrpSpPr/>
          <p:nvPr/>
        </p:nvGrpSpPr>
        <p:grpSpPr>
          <a:xfrm>
            <a:off x="391795" y="57868"/>
            <a:ext cx="4183424" cy="3281082"/>
            <a:chOff x="591567" y="188259"/>
            <a:chExt cx="4159624" cy="3129572"/>
          </a:xfrm>
        </p:grpSpPr>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1567" y="188259"/>
              <a:ext cx="4159624" cy="2766150"/>
            </a:xfrm>
            <a:prstGeom prst="rect">
              <a:avLst/>
            </a:prstGeom>
          </p:spPr>
        </p:pic>
        <p:sp>
          <p:nvSpPr>
            <p:cNvPr id="10" name="Rectangle 9"/>
            <p:cNvSpPr/>
            <p:nvPr/>
          </p:nvSpPr>
          <p:spPr>
            <a:xfrm>
              <a:off x="591567" y="2948499"/>
              <a:ext cx="4070345" cy="369332"/>
            </a:xfrm>
            <a:prstGeom prst="rect">
              <a:avLst/>
            </a:prstGeom>
            <a:ln>
              <a:noFill/>
            </a:ln>
          </p:spPr>
          <p:txBody>
            <a:bodyPr wrap="none">
              <a:spAutoFit/>
            </a:bodyPr>
            <a:lstStyle/>
            <a:p>
              <a:r>
                <a:rPr lang="en-US" dirty="0" smtClean="0">
                  <a:solidFill>
                    <a:schemeClr val="accent1">
                      <a:lumMod val="50000"/>
                    </a:schemeClr>
                  </a:solidFill>
                </a:rPr>
                <a:t>Source: thetravellingsaleswoman.com</a:t>
              </a:r>
              <a:endParaRPr lang="en-US" dirty="0">
                <a:solidFill>
                  <a:schemeClr val="accent1">
                    <a:lumMod val="50000"/>
                  </a:schemeClr>
                </a:solidFill>
              </a:endParaRPr>
            </a:p>
          </p:txBody>
        </p:sp>
      </p:grpSp>
    </p:spTree>
    <p:extLst>
      <p:ext uri="{BB962C8B-B14F-4D97-AF65-F5344CB8AC3E}">
        <p14:creationId xmlns:p14="http://schemas.microsoft.com/office/powerpoint/2010/main" val="28658280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http://fuelzee.com/wp-content/uploads/2014/09/girl-over-car-broken-down-engine-on-phone-820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4" y="458413"/>
            <a:ext cx="5902325" cy="2879183"/>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6689724" y="2743727"/>
            <a:ext cx="4359275" cy="3514417"/>
            <a:chOff x="6689724" y="2743727"/>
            <a:chExt cx="4359275" cy="3514417"/>
          </a:xfrm>
        </p:grpSpPr>
        <p:pic>
          <p:nvPicPr>
            <p:cNvPr id="4104" name="Picture 8" descr="http://thumbs.dreamstime.com/t/confident-auto-mechanic-listening-to-car-engine-working-3280891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24" y="2743727"/>
              <a:ext cx="4359275" cy="29061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956424" y="5611813"/>
              <a:ext cx="3416384" cy="646331"/>
            </a:xfrm>
            <a:prstGeom prst="rect">
              <a:avLst/>
            </a:prstGeom>
          </p:spPr>
          <p:txBody>
            <a:bodyPr wrap="none">
              <a:spAutoFit/>
            </a:bodyPr>
            <a:lstStyle/>
            <a:p>
              <a:r>
                <a:rPr lang="en-US" dirty="0" smtClean="0">
                  <a:solidFill>
                    <a:schemeClr val="accent1">
                      <a:lumMod val="50000"/>
                    </a:schemeClr>
                  </a:solidFill>
                  <a:latin typeface="arial" panose="020B0604020202020204" pitchFamily="34" charset="0"/>
                </a:rPr>
                <a:t>Sources: www.dreamstime.com</a:t>
              </a:r>
            </a:p>
            <a:p>
              <a:r>
                <a:rPr lang="en-PH" dirty="0">
                  <a:solidFill>
                    <a:schemeClr val="accent1">
                      <a:lumMod val="50000"/>
                    </a:schemeClr>
                  </a:solidFill>
                  <a:latin typeface="arial" panose="020B0604020202020204" pitchFamily="34" charset="0"/>
                </a:rPr>
                <a:t>	</a:t>
              </a:r>
              <a:r>
                <a:rPr lang="en-PH" dirty="0" smtClean="0">
                  <a:solidFill>
                    <a:schemeClr val="accent1">
                      <a:lumMod val="50000"/>
                    </a:schemeClr>
                  </a:solidFill>
                  <a:latin typeface="arial" panose="020B0604020202020204" pitchFamily="34" charset="0"/>
                </a:rPr>
                <a:t> </a:t>
              </a:r>
              <a:r>
                <a:rPr lang="en-US" dirty="0" smtClean="0">
                  <a:solidFill>
                    <a:schemeClr val="accent1">
                      <a:lumMod val="50000"/>
                    </a:schemeClr>
                  </a:solidFill>
                </a:rPr>
                <a:t>www.aliexpress.com</a:t>
              </a:r>
              <a:endParaRPr lang="en-US" dirty="0">
                <a:solidFill>
                  <a:schemeClr val="accent1">
                    <a:lumMod val="50000"/>
                  </a:schemeClr>
                </a:solidFill>
              </a:endParaRPr>
            </a:p>
          </p:txBody>
        </p:sp>
      </p:grpSp>
      <p:pic>
        <p:nvPicPr>
          <p:cNvPr id="4106" name="Picture 10" descr="http://g02.a.alicdn.com/kf/HTB1YZFgIVXXXXa1XFXXq6xXFXXXd/1-Piece-Professional-Car-Engine-Stethoscope-Analyzer-Auto-Engine-Faults-Mechanical-Noises-Diagnostic-Too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79625" y="3724236"/>
            <a:ext cx="2892425" cy="289242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4" name="Rectangle 3"/>
          <p:cNvSpPr/>
          <p:nvPr/>
        </p:nvSpPr>
        <p:spPr>
          <a:xfrm>
            <a:off x="4437558" y="785408"/>
            <a:ext cx="4024907" cy="1446550"/>
          </a:xfrm>
          <a:prstGeom prst="rect">
            <a:avLst/>
          </a:prstGeom>
          <a:noFill/>
        </p:spPr>
        <p:txBody>
          <a:bodyPr wrap="square" lIns="91440" tIns="45720" rIns="91440" bIns="45720">
            <a:spAutoFit/>
          </a:bodyPr>
          <a:lstStyle/>
          <a:p>
            <a:pPr algn="ctr"/>
            <a:r>
              <a:rPr lang="en-PH" sz="8800" b="1" dirty="0" smtClean="0">
                <a:ln w="6600">
                  <a:solidFill>
                    <a:schemeClr val="accent2"/>
                  </a:solidFill>
                  <a:prstDash val="solid"/>
                </a:ln>
                <a:solidFill>
                  <a:srgbClr val="FFFFFF"/>
                </a:solidFill>
                <a:effectLst>
                  <a:outerShdw dist="38100" dir="2700000" algn="tl" rotWithShape="0">
                    <a:schemeClr val="accent2"/>
                  </a:outerShdw>
                </a:effectLst>
              </a:rPr>
              <a:t>WHY?</a:t>
            </a:r>
            <a:endParaRPr lang="en-US" sz="88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2520373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fade">
                                      <p:cBhvr>
                                        <p:cTn id="7" dur="500"/>
                                        <p:tgtEl>
                                          <p:spTgt spid="410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106"/>
                                        </p:tgtEl>
                                        <p:attrNameLst>
                                          <p:attrName>style.visibility</p:attrName>
                                        </p:attrNameLst>
                                      </p:cBhvr>
                                      <p:to>
                                        <p:strVal val="visible"/>
                                      </p:to>
                                    </p:set>
                                    <p:animEffect transition="in" filter="fade">
                                      <p:cBhvr>
                                        <p:cTn id="19" dur="500"/>
                                        <p:tgtEl>
                                          <p:spTgt spid="410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27048" y="362013"/>
            <a:ext cx="9144000" cy="1209124"/>
          </a:xfrm>
        </p:spPr>
        <p:txBody>
          <a:bodyPr/>
          <a:lstStyle/>
          <a:p>
            <a:r>
              <a:rPr lang="en-PH" dirty="0" smtClean="0"/>
              <a:t>Background of the Study</a:t>
            </a:r>
            <a:endParaRPr lang="en-US" dirty="0"/>
          </a:p>
        </p:txBody>
      </p:sp>
      <p:sp>
        <p:nvSpPr>
          <p:cNvPr id="6" name="Content Placeholder 5"/>
          <p:cNvSpPr>
            <a:spLocks noGrp="1"/>
          </p:cNvSpPr>
          <p:nvPr>
            <p:ph idx="1"/>
          </p:nvPr>
        </p:nvSpPr>
        <p:spPr>
          <a:xfrm>
            <a:off x="677334" y="1426869"/>
            <a:ext cx="9993714" cy="5068060"/>
          </a:xfrm>
        </p:spPr>
        <p:txBody>
          <a:bodyPr>
            <a:normAutofit fontScale="92500"/>
          </a:bodyPr>
          <a:lstStyle/>
          <a:p>
            <a:r>
              <a:rPr lang="en-PH" sz="2400" dirty="0" smtClean="0"/>
              <a:t>Ignoring </a:t>
            </a:r>
            <a:r>
              <a:rPr lang="en-PH" sz="2400" dirty="0"/>
              <a:t>engine noises could lead to a catastrophic situation where the component parts need to be replaced. </a:t>
            </a:r>
          </a:p>
          <a:p>
            <a:endParaRPr lang="en-PH" sz="2400" dirty="0" smtClean="0"/>
          </a:p>
          <a:p>
            <a:r>
              <a:rPr lang="en-PH" sz="2400" dirty="0"/>
              <a:t>L</a:t>
            </a:r>
            <a:r>
              <a:rPr lang="en-PH" sz="2400" dirty="0" smtClean="0"/>
              <a:t>istening </a:t>
            </a:r>
            <a:r>
              <a:rPr lang="en-PH" sz="2400" dirty="0"/>
              <a:t>to sounds isn’t an exact science, so saying you hear a clunking coming from your vehicle can mean a number of different issues. </a:t>
            </a:r>
            <a:endParaRPr lang="en-PH" sz="2400" dirty="0" smtClean="0"/>
          </a:p>
          <a:p>
            <a:pPr marL="0" indent="0">
              <a:buNone/>
            </a:pPr>
            <a:endParaRPr lang="en-PH" sz="2400" dirty="0"/>
          </a:p>
          <a:p>
            <a:r>
              <a:rPr lang="en-PH" sz="2400" dirty="0"/>
              <a:t>replace the traditional “by-ear” </a:t>
            </a:r>
            <a:r>
              <a:rPr lang="en-PH" sz="2400" dirty="0" smtClean="0"/>
              <a:t>method and </a:t>
            </a:r>
            <a:r>
              <a:rPr lang="en-PH" sz="2400" dirty="0"/>
              <a:t>usage of additional tools such as automotive </a:t>
            </a:r>
            <a:r>
              <a:rPr lang="en-PH" sz="2400" dirty="0" smtClean="0"/>
              <a:t>stethoscope</a:t>
            </a:r>
          </a:p>
          <a:p>
            <a:endParaRPr lang="en-PH" sz="2400" dirty="0"/>
          </a:p>
          <a:p>
            <a:r>
              <a:rPr lang="en-PH" sz="2400" dirty="0" smtClean="0"/>
              <a:t>Mobile-applications for car diagnosis are mainly based from inferencing the diagnosis by answering series of questions. Another is by matching the sound the user heard from the sound library and sound emitted by the vehicle.</a:t>
            </a:r>
          </a:p>
          <a:p>
            <a:pPr marL="0" indent="0">
              <a:buNone/>
            </a:pPr>
            <a:endParaRPr lang="en-PH" dirty="0" smtClean="0"/>
          </a:p>
          <a:p>
            <a:pPr marL="0" indent="0">
              <a:buNone/>
            </a:pPr>
            <a:endParaRPr lang="en-PH" dirty="0" smtClean="0"/>
          </a:p>
        </p:txBody>
      </p:sp>
    </p:spTree>
    <p:extLst>
      <p:ext uri="{BB962C8B-B14F-4D97-AF65-F5344CB8AC3E}">
        <p14:creationId xmlns:p14="http://schemas.microsoft.com/office/powerpoint/2010/main" val="4198401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3601" y="471185"/>
            <a:ext cx="10058400" cy="1609344"/>
          </a:xfrm>
        </p:spPr>
        <p:txBody>
          <a:bodyPr/>
          <a:lstStyle/>
          <a:p>
            <a:r>
              <a:rPr lang="en-PH" dirty="0" smtClean="0"/>
              <a:t>Statement of the Problem</a:t>
            </a:r>
            <a:endParaRPr lang="en-US" dirty="0"/>
          </a:p>
        </p:txBody>
      </p:sp>
      <p:sp>
        <p:nvSpPr>
          <p:cNvPr id="3" name="Content Placeholder 2"/>
          <p:cNvSpPr>
            <a:spLocks noGrp="1"/>
          </p:cNvSpPr>
          <p:nvPr>
            <p:ph idx="1"/>
          </p:nvPr>
        </p:nvSpPr>
        <p:spPr>
          <a:xfrm>
            <a:off x="677334" y="1790699"/>
            <a:ext cx="10295466" cy="4515972"/>
          </a:xfrm>
        </p:spPr>
        <p:txBody>
          <a:bodyPr>
            <a:normAutofit/>
          </a:bodyPr>
          <a:lstStyle/>
          <a:p>
            <a:pPr marL="0" indent="0">
              <a:buNone/>
            </a:pPr>
            <a:r>
              <a:rPr lang="en-PH" sz="2200" dirty="0"/>
              <a:t>The study is aimed to develop a mobile-based application for classifying car faults via the sound analysis and give its accurate diagnosis using fuzzy logic approach. Specifically, it wants to answer the following questions</a:t>
            </a:r>
            <a:r>
              <a:rPr lang="en-PH" sz="2200" dirty="0" smtClean="0"/>
              <a:t>:</a:t>
            </a:r>
          </a:p>
          <a:p>
            <a:pPr marL="0" indent="0">
              <a:buNone/>
            </a:pPr>
            <a:endParaRPr lang="en-PH" sz="2200" dirty="0" smtClean="0"/>
          </a:p>
          <a:p>
            <a:pPr marL="457200" lvl="0" indent="-457200">
              <a:buFont typeface="+mj-lt"/>
              <a:buAutoNum type="arabicPeriod"/>
            </a:pPr>
            <a:r>
              <a:rPr lang="en-PH" sz="2200" dirty="0" smtClean="0"/>
              <a:t>What </a:t>
            </a:r>
            <a:r>
              <a:rPr lang="en-PH" sz="2200" dirty="0"/>
              <a:t>is the accuracy of classification in </a:t>
            </a:r>
            <a:r>
              <a:rPr lang="en-PH" sz="2200"/>
              <a:t>terms </a:t>
            </a:r>
            <a:r>
              <a:rPr lang="en-PH" sz="2200" smtClean="0"/>
              <a:t>of number </a:t>
            </a:r>
            <a:r>
              <a:rPr lang="en-PH" sz="2200" dirty="0"/>
              <a:t>of car faults present in the recorded </a:t>
            </a:r>
            <a:r>
              <a:rPr lang="en-PH" sz="2200" dirty="0" smtClean="0"/>
              <a:t>sound?</a:t>
            </a:r>
          </a:p>
          <a:p>
            <a:pPr marL="457200" lvl="0" indent="-457200">
              <a:buFont typeface="+mj-lt"/>
              <a:buAutoNum type="arabicPeriod"/>
            </a:pPr>
            <a:endParaRPr lang="en-PH" sz="2200" dirty="0"/>
          </a:p>
          <a:p>
            <a:pPr marL="457200" lvl="0" indent="-457200">
              <a:buFont typeface="+mj-lt"/>
              <a:buAutoNum type="arabicPeriod"/>
            </a:pPr>
            <a:r>
              <a:rPr lang="en-PH" sz="2200" dirty="0" smtClean="0"/>
              <a:t>What </a:t>
            </a:r>
            <a:r>
              <a:rPr lang="en-PH" sz="2200" dirty="0"/>
              <a:t>is the accuracy of fault diagnosis in terms of number of faults </a:t>
            </a:r>
            <a:r>
              <a:rPr lang="en-PH" sz="2200" dirty="0" smtClean="0"/>
              <a:t>classified?</a:t>
            </a:r>
          </a:p>
          <a:p>
            <a:pPr marL="457200" lvl="0" indent="-457200">
              <a:buFont typeface="+mj-lt"/>
              <a:buAutoNum type="arabicPeriod"/>
            </a:pPr>
            <a:endParaRPr lang="en-PH" sz="2200" dirty="0"/>
          </a:p>
          <a:p>
            <a:pPr marL="457200" lvl="0" indent="-457200">
              <a:buFont typeface="+mj-lt"/>
              <a:buAutoNum type="arabicPeriod"/>
            </a:pPr>
            <a:r>
              <a:rPr lang="en-PH" sz="2200" dirty="0" smtClean="0"/>
              <a:t>What is the </a:t>
            </a:r>
            <a:r>
              <a:rPr lang="en-PH" sz="2200" dirty="0"/>
              <a:t>performance advantage of the application in </a:t>
            </a:r>
            <a:r>
              <a:rPr lang="en-PH" sz="2200" dirty="0" smtClean="0"/>
              <a:t>classifying and giving </a:t>
            </a:r>
            <a:r>
              <a:rPr lang="en-PH" sz="2200" dirty="0"/>
              <a:t>accurate diagnosis over expert’s diagnosis?</a:t>
            </a:r>
            <a:endParaRPr lang="en-US" sz="2200" dirty="0"/>
          </a:p>
          <a:p>
            <a:endParaRPr lang="en-US" dirty="0"/>
          </a:p>
        </p:txBody>
      </p:sp>
    </p:spTree>
    <p:extLst>
      <p:ext uri="{BB962C8B-B14F-4D97-AF65-F5344CB8AC3E}">
        <p14:creationId xmlns:p14="http://schemas.microsoft.com/office/powerpoint/2010/main" val="3537253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1037" y="484632"/>
            <a:ext cx="4282081" cy="1609344"/>
          </a:xfrm>
        </p:spPr>
        <p:txBody>
          <a:bodyPr/>
          <a:lstStyle/>
          <a:p>
            <a:r>
              <a:rPr lang="en-PH" dirty="0" smtClean="0"/>
              <a:t>Hypothesis</a:t>
            </a:r>
            <a:endParaRPr lang="en-US" dirty="0"/>
          </a:p>
        </p:txBody>
      </p:sp>
      <p:sp>
        <p:nvSpPr>
          <p:cNvPr id="3" name="Content Placeholder 2"/>
          <p:cNvSpPr>
            <a:spLocks noGrp="1"/>
          </p:cNvSpPr>
          <p:nvPr>
            <p:ph idx="1"/>
          </p:nvPr>
        </p:nvSpPr>
        <p:spPr>
          <a:xfrm>
            <a:off x="677334" y="2410557"/>
            <a:ext cx="8596668" cy="3880773"/>
          </a:xfrm>
        </p:spPr>
        <p:txBody>
          <a:bodyPr/>
          <a:lstStyle/>
          <a:p>
            <a:r>
              <a:rPr lang="en-PH" sz="2400" dirty="0"/>
              <a:t>T</a:t>
            </a:r>
            <a:r>
              <a:rPr lang="en-PH" sz="2400" dirty="0" smtClean="0"/>
              <a:t>here </a:t>
            </a:r>
            <a:r>
              <a:rPr lang="en-PH" sz="2400" dirty="0"/>
              <a:t>is a performance advantage of the application over the expert in terms of the accuracy </a:t>
            </a:r>
            <a:r>
              <a:rPr lang="en-PH" sz="2400" dirty="0" smtClean="0"/>
              <a:t>of giving </a:t>
            </a:r>
            <a:r>
              <a:rPr lang="en-PH" sz="2400" dirty="0"/>
              <a:t>diagnosis. Also, the number of faults present in the sound affects the accuracy of the application.</a:t>
            </a:r>
            <a:endParaRPr lang="en-US" sz="2400" dirty="0"/>
          </a:p>
          <a:p>
            <a:endParaRPr lang="en-US" dirty="0"/>
          </a:p>
        </p:txBody>
      </p:sp>
    </p:spTree>
    <p:extLst>
      <p:ext uri="{BB962C8B-B14F-4D97-AF65-F5344CB8AC3E}">
        <p14:creationId xmlns:p14="http://schemas.microsoft.com/office/powerpoint/2010/main" val="4084841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8001" y="512064"/>
            <a:ext cx="6500846" cy="1609344"/>
          </a:xfrm>
        </p:spPr>
        <p:txBody>
          <a:bodyPr/>
          <a:lstStyle/>
          <a:p>
            <a:r>
              <a:rPr lang="en-PH" dirty="0" smtClean="0"/>
              <a:t>Research Method</a:t>
            </a:r>
            <a:endParaRPr lang="en-US" dirty="0"/>
          </a:p>
        </p:txBody>
      </p:sp>
      <p:sp>
        <p:nvSpPr>
          <p:cNvPr id="3" name="Content Placeholder 2"/>
          <p:cNvSpPr>
            <a:spLocks noGrp="1"/>
          </p:cNvSpPr>
          <p:nvPr>
            <p:ph idx="1"/>
          </p:nvPr>
        </p:nvSpPr>
        <p:spPr/>
        <p:txBody>
          <a:bodyPr/>
          <a:lstStyle/>
          <a:p>
            <a:r>
              <a:rPr lang="en-PH" dirty="0"/>
              <a:t>The proponents of the study will make use of experimental research design. </a:t>
            </a:r>
            <a:endParaRPr lang="en-PH" dirty="0" smtClean="0"/>
          </a:p>
          <a:p>
            <a:endParaRPr lang="en-PH" dirty="0"/>
          </a:p>
          <a:p>
            <a:r>
              <a:rPr lang="en-PH" dirty="0"/>
              <a:t>The number of faults will be manipulated in order to determine its effects in the dependent variable which are the fault classification and diagnosis.</a:t>
            </a:r>
            <a:endParaRPr lang="en-US" dirty="0"/>
          </a:p>
          <a:p>
            <a:endParaRPr lang="en-US" dirty="0"/>
          </a:p>
        </p:txBody>
      </p:sp>
    </p:spTree>
    <p:extLst>
      <p:ext uri="{BB962C8B-B14F-4D97-AF65-F5344CB8AC3E}">
        <p14:creationId xmlns:p14="http://schemas.microsoft.com/office/powerpoint/2010/main" val="3677620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8111" y="28135"/>
            <a:ext cx="7610622" cy="1320800"/>
          </a:xfrm>
        </p:spPr>
        <p:txBody>
          <a:bodyPr/>
          <a:lstStyle/>
          <a:p>
            <a:r>
              <a:rPr lang="en-PH" dirty="0" smtClean="0"/>
              <a:t>System Architecture</a:t>
            </a:r>
            <a:endParaRPr lang="en-US" dirty="0"/>
          </a:p>
        </p:txBody>
      </p:sp>
      <p:sp>
        <p:nvSpPr>
          <p:cNvPr id="4" name="Rectangle 2"/>
          <p:cNvSpPr>
            <a:spLocks noChangeArrowheads="1"/>
          </p:cNvSpPr>
          <p:nvPr/>
        </p:nvSpPr>
        <p:spPr bwMode="auto">
          <a:xfrm flipV="1">
            <a:off x="869977" y="1758121"/>
            <a:ext cx="1614495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736715057"/>
              </p:ext>
            </p:extLst>
          </p:nvPr>
        </p:nvGraphicFramePr>
        <p:xfrm>
          <a:off x="562709" y="1026942"/>
          <a:ext cx="10550768" cy="5831058"/>
        </p:xfrm>
        <a:graphic>
          <a:graphicData uri="http://schemas.openxmlformats.org/presentationml/2006/ole">
            <mc:AlternateContent xmlns:mc="http://schemas.openxmlformats.org/markup-compatibility/2006">
              <mc:Choice xmlns:v="urn:schemas-microsoft-com:vml" Requires="v">
                <p:oleObj spid="_x0000_s1059" name="Visio" r:id="rId3" imgW="8505671" imgH="4486236" progId="Visio.Drawing.15">
                  <p:embed/>
                </p:oleObj>
              </mc:Choice>
              <mc:Fallback>
                <p:oleObj name="Visio" r:id="rId3" imgW="8505671" imgH="448623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709" y="1026942"/>
                        <a:ext cx="10550768" cy="5831058"/>
                      </a:xfrm>
                      <a:prstGeom prst="rect">
                        <a:avLst/>
                      </a:prstGeom>
                      <a:noFill/>
                    </p:spPr>
                  </p:pic>
                </p:oleObj>
              </mc:Fallback>
            </mc:AlternateContent>
          </a:graphicData>
        </a:graphic>
      </p:graphicFrame>
    </p:spTree>
    <p:extLst>
      <p:ext uri="{BB962C8B-B14F-4D97-AF65-F5344CB8AC3E}">
        <p14:creationId xmlns:p14="http://schemas.microsoft.com/office/powerpoint/2010/main" val="16238601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upload.wikimedia.org/wikipedia/commons/4/49/Daubechies12-packet-function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5292" y="3108486"/>
            <a:ext cx="5356449" cy="37495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upload.wikimedia.org/wikipedia/commons/3/31/Daubechies12-packet-spectru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304" y="3215854"/>
            <a:ext cx="5203065" cy="36421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upload.wikimedia.org/wikipedia/commons/b/bc/Wavelets_-_WP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355" y="234528"/>
            <a:ext cx="4791075"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4151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052"/>
                                        </p:tgtEl>
                                        <p:attrNameLst>
                                          <p:attrName>style.visibility</p:attrName>
                                        </p:attrNameLst>
                                      </p:cBhvr>
                                      <p:to>
                                        <p:strVal val="visible"/>
                                      </p:to>
                                    </p:set>
                                    <p:animEffect transition="in" filter="fade">
                                      <p:cBhvr>
                                        <p:cTn id="10" dur="500"/>
                                        <p:tgtEl>
                                          <p:spTgt spid="2052"/>
                                        </p:tgtEl>
                                      </p:cBhvr>
                                    </p:animEffect>
                                  </p:childTnLst>
                                </p:cTn>
                              </p:par>
                              <p:par>
                                <p:cTn id="11" presetID="10"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Statistical Treatment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PH" sz="2400" dirty="0" smtClean="0"/>
                  <a:t>Testing the accuracy in classifying faults</a:t>
                </a:r>
              </a:p>
              <a:p>
                <a:endParaRPr lang="en-PH" sz="2400" dirty="0" smtClean="0"/>
              </a:p>
              <a:p>
                <a:pPr marL="0" indent="0">
                  <a:buNone/>
                </a:pPr>
                <a14:m>
                  <m:oMathPara xmlns:m="http://schemas.openxmlformats.org/officeDocument/2006/math">
                    <m:oMathParaPr>
                      <m:jc m:val="centerGroup"/>
                    </m:oMathParaPr>
                    <m:oMath xmlns:m="http://schemas.openxmlformats.org/officeDocument/2006/math">
                      <m:r>
                        <a:rPr lang="en-PH" sz="2400" i="1">
                          <a:latin typeface="Cambria Math" panose="02040503050406030204" pitchFamily="18" charset="0"/>
                        </a:rPr>
                        <m:t>𝑒𝑟𝑟𝑜𝑟</m:t>
                      </m:r>
                      <m:r>
                        <a:rPr lang="en-PH" sz="2400" i="1">
                          <a:latin typeface="Cambria Math" panose="02040503050406030204" pitchFamily="18" charset="0"/>
                        </a:rPr>
                        <m:t>(%)=  </m:t>
                      </m:r>
                      <m:f>
                        <m:fPr>
                          <m:ctrlPr>
                            <a:rPr lang="en-US" sz="2400" i="1">
                              <a:latin typeface="Cambria Math" panose="02040503050406030204" pitchFamily="18" charset="0"/>
                            </a:rPr>
                          </m:ctrlPr>
                        </m:fPr>
                        <m:num>
                          <m:r>
                            <a:rPr lang="en-PH" sz="2400" i="1">
                              <a:latin typeface="Cambria Math" panose="02040503050406030204" pitchFamily="18" charset="0"/>
                            </a:rPr>
                            <m:t>𝑛</m:t>
                          </m:r>
                        </m:num>
                        <m:den>
                          <m:r>
                            <a:rPr lang="en-PH" sz="2400" i="1">
                              <a:latin typeface="Cambria Math" panose="02040503050406030204" pitchFamily="18" charset="0"/>
                            </a:rPr>
                            <m:t>𝑁</m:t>
                          </m:r>
                        </m:den>
                      </m:f>
                    </m:oMath>
                  </m:oMathPara>
                </a14:m>
                <a:endParaRPr lang="en-US" sz="2400" dirty="0" smtClean="0"/>
              </a:p>
              <a:p>
                <a:pPr marL="0" indent="0">
                  <a:buNone/>
                </a:pPr>
                <a:endParaRPr lang="en-US" sz="2400" dirty="0" smtClean="0"/>
              </a:p>
              <a:p>
                <a:pPr marL="457200" lvl="1" indent="0">
                  <a:buNone/>
                </a:pPr>
                <a14:m>
                  <m:oMathPara xmlns:m="http://schemas.openxmlformats.org/officeDocument/2006/math">
                    <m:oMathParaPr>
                      <m:jc m:val="centerGroup"/>
                    </m:oMathParaPr>
                    <m:oMath xmlns:m="http://schemas.openxmlformats.org/officeDocument/2006/math">
                      <m:r>
                        <a:rPr lang="en-PH" sz="2000" i="1">
                          <a:latin typeface="Cambria Math" panose="02040503050406030204" pitchFamily="18" charset="0"/>
                        </a:rPr>
                        <m:t>𝐴𝑐𝑐𝑢𝑟𝑎𝑐𝑦</m:t>
                      </m:r>
                      <m:r>
                        <a:rPr lang="en-PH" sz="2000" i="1">
                          <a:latin typeface="Cambria Math" panose="02040503050406030204" pitchFamily="18" charset="0"/>
                        </a:rPr>
                        <m:t>=100%− </m:t>
                      </m:r>
                      <m:r>
                        <a:rPr lang="en-PH" sz="2000" i="1">
                          <a:latin typeface="Cambria Math" panose="02040503050406030204" pitchFamily="18" charset="0"/>
                        </a:rPr>
                        <m:t>𝑒𝑟𝑟𝑜𝑟</m:t>
                      </m:r>
                      <m:r>
                        <a:rPr lang="en-PH" sz="2000" i="1">
                          <a:latin typeface="Cambria Math" panose="02040503050406030204" pitchFamily="18" charset="0"/>
                        </a:rPr>
                        <m:t>(%) </m:t>
                      </m:r>
                    </m:oMath>
                  </m:oMathPara>
                </a14:m>
                <a:endParaRPr lang="en-US" sz="2000" dirty="0" smtClean="0"/>
              </a:p>
              <a:p>
                <a:pPr marL="457200" lvl="1" indent="0">
                  <a:buNone/>
                </a:pPr>
                <a:endParaRPr lang="en-US" sz="2000" dirty="0"/>
              </a:p>
              <a:p>
                <a:pPr marL="0" indent="0">
                  <a:buNone/>
                </a:pPr>
                <a:r>
                  <a:rPr lang="en-PH" sz="2400" dirty="0"/>
                  <a:t>Where:</a:t>
                </a:r>
                <a:endParaRPr lang="en-US" sz="2400" dirty="0"/>
              </a:p>
              <a:p>
                <a:pPr marL="0" indent="0">
                  <a:buNone/>
                </a:pPr>
                <a:r>
                  <a:rPr lang="en-PH" sz="2400" dirty="0"/>
                  <a:t>n = Total number of faults wrongly classified</a:t>
                </a:r>
                <a:endParaRPr lang="en-US" sz="2400" dirty="0"/>
              </a:p>
              <a:p>
                <a:pPr marL="0" indent="0">
                  <a:buNone/>
                </a:pPr>
                <a:r>
                  <a:rPr lang="en-PH" sz="2400" dirty="0"/>
                  <a:t>N = Total number of faults present</a:t>
                </a:r>
                <a:endParaRPr lang="en-US" sz="24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0" t="-1955" b="-3158"/>
                </a:stretch>
              </a:blipFill>
            </p:spPr>
            <p:txBody>
              <a:bodyPr/>
              <a:lstStyle/>
              <a:p>
                <a:r>
                  <a:rPr lang="en-US">
                    <a:noFill/>
                  </a:rPr>
                  <a:t> </a:t>
                </a:r>
              </a:p>
            </p:txBody>
          </p:sp>
        </mc:Fallback>
      </mc:AlternateContent>
    </p:spTree>
    <p:extLst>
      <p:ext uri="{BB962C8B-B14F-4D97-AF65-F5344CB8AC3E}">
        <p14:creationId xmlns:p14="http://schemas.microsoft.com/office/powerpoint/2010/main" val="30120916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PH" dirty="0" smtClean="0"/>
              <a:t>Statistical Treatment</a:t>
            </a:r>
            <a:endParaRPr lang="en-US" dirty="0"/>
          </a:p>
        </p:txBody>
      </p:sp>
      <p:sp>
        <p:nvSpPr>
          <p:cNvPr id="3" name="Content Placeholder 2"/>
          <p:cNvSpPr>
            <a:spLocks noGrp="1"/>
          </p:cNvSpPr>
          <p:nvPr>
            <p:ph idx="1"/>
          </p:nvPr>
        </p:nvSpPr>
        <p:spPr/>
        <p:txBody>
          <a:bodyPr>
            <a:normAutofit/>
          </a:bodyPr>
          <a:lstStyle/>
          <a:p>
            <a:r>
              <a:rPr lang="en-PH" sz="2400" dirty="0" smtClean="0"/>
              <a:t>Testing the accuracy of diagnosis</a:t>
            </a:r>
          </a:p>
          <a:p>
            <a:endParaRPr lang="en-PH" sz="2400" dirty="0" smtClean="0"/>
          </a:p>
          <a:p>
            <a:endParaRPr lang="en-PH" sz="2400" dirty="0"/>
          </a:p>
          <a:p>
            <a:endParaRPr lang="en-PH" sz="2400" dirty="0" smtClean="0"/>
          </a:p>
          <a:p>
            <a:pPr marL="0" indent="0">
              <a:buNone/>
            </a:pPr>
            <a:r>
              <a:rPr lang="en-PH" sz="2400" dirty="0"/>
              <a:t>Where</a:t>
            </a:r>
            <a:r>
              <a:rPr lang="en-PH" sz="2400" dirty="0" smtClean="0"/>
              <a:t>:</a:t>
            </a:r>
            <a:endParaRPr lang="en-US" sz="2400" dirty="0"/>
          </a:p>
          <a:p>
            <a:pPr marL="0" indent="0">
              <a:buNone/>
            </a:pPr>
            <a:r>
              <a:rPr lang="en-PH" sz="2400" dirty="0"/>
              <a:t>P (precision) = is the number of correct diagnosis divided by the number of all returned diagnosis.</a:t>
            </a:r>
            <a:endParaRPr lang="en-US" sz="2400" dirty="0"/>
          </a:p>
          <a:p>
            <a:pPr marL="0" indent="0">
              <a:buNone/>
            </a:pPr>
            <a:r>
              <a:rPr lang="en-PH" sz="2400" dirty="0"/>
              <a:t>R (recall) = is the number of correct diagnosis divided by the number of correct diagnosis that should have been returned.</a:t>
            </a:r>
            <a:endParaRPr lang="en-US" sz="2400" dirty="0"/>
          </a:p>
          <a:p>
            <a:pPr marL="0" indent="0">
              <a:buNone/>
            </a:pPr>
            <a:endParaRPr lang="en-US" dirty="0"/>
          </a:p>
        </p:txBody>
      </p:sp>
      <p:pic>
        <p:nvPicPr>
          <p:cNvPr id="6" name="Picture 5" descr="F_1 = 2 \cdot \frac{\mathrm{precision} \cdot \mathrm{recall}}{\mathrm{precision} + \mathrm{recall}}"/>
          <p:cNvPicPr/>
          <p:nvPr/>
        </p:nvPicPr>
        <p:blipFill>
          <a:blip r:embed="rId2" cstate="print"/>
          <a:srcRect/>
          <a:stretch>
            <a:fillRect/>
          </a:stretch>
        </p:blipFill>
        <p:spPr bwMode="auto">
          <a:xfrm>
            <a:off x="3570707" y="2685144"/>
            <a:ext cx="2809921" cy="631644"/>
          </a:xfrm>
          <a:prstGeom prst="rect">
            <a:avLst/>
          </a:prstGeom>
          <a:noFill/>
          <a:ln w="9525">
            <a:noFill/>
            <a:miter lim="800000"/>
            <a:headEnd/>
            <a:tailEnd/>
          </a:ln>
        </p:spPr>
      </p:pic>
    </p:spTree>
    <p:extLst>
      <p:ext uri="{BB962C8B-B14F-4D97-AF65-F5344CB8AC3E}">
        <p14:creationId xmlns:p14="http://schemas.microsoft.com/office/powerpoint/2010/main" val="1026249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118" y="31943"/>
            <a:ext cx="10058400" cy="1609344"/>
          </a:xfrm>
        </p:spPr>
        <p:txBody>
          <a:bodyPr/>
          <a:lstStyle/>
          <a:p>
            <a:r>
              <a:rPr lang="en-US" dirty="0" smtClean="0"/>
              <a:t>Experiment Paper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22835309"/>
              </p:ext>
            </p:extLst>
          </p:nvPr>
        </p:nvGraphicFramePr>
        <p:xfrm>
          <a:off x="652989" y="1233289"/>
          <a:ext cx="10152529" cy="5052253"/>
        </p:xfrm>
        <a:graphic>
          <a:graphicData uri="http://schemas.openxmlformats.org/drawingml/2006/table">
            <a:tbl>
              <a:tblPr firstRow="1" firstCol="1" bandRow="1">
                <a:tableStyleId>{5C22544A-7EE6-4342-B048-85BDC9FD1C3A}</a:tableStyleId>
              </a:tblPr>
              <a:tblGrid>
                <a:gridCol w="3014747"/>
                <a:gridCol w="1281141"/>
                <a:gridCol w="1464160"/>
                <a:gridCol w="4392481"/>
              </a:tblGrid>
              <a:tr h="621714">
                <a:tc>
                  <a:txBody>
                    <a:bodyPr/>
                    <a:lstStyle/>
                    <a:p>
                      <a:pPr marL="0" marR="0">
                        <a:lnSpc>
                          <a:spcPct val="107000"/>
                        </a:lnSpc>
                        <a:spcBef>
                          <a:spcPts val="0"/>
                        </a:spcBef>
                        <a:spcAft>
                          <a:spcPts val="0"/>
                        </a:spcAft>
                      </a:pPr>
                      <a:r>
                        <a:rPr lang="en-PH" sz="1100" dirty="0">
                          <a:effectLst/>
                        </a:rPr>
                        <a:t> </a:t>
                      </a:r>
                      <a:endParaRPr lang="en-US" sz="1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800">
                          <a:effectLst/>
                        </a:rPr>
                        <a:t>Detected</a:t>
                      </a:r>
                      <a:endParaRPr lang="en-US" sz="18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800" dirty="0">
                          <a:effectLst/>
                        </a:rPr>
                        <a:t>Not Detected</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800" dirty="0">
                          <a:effectLst/>
                        </a:rPr>
                        <a:t>Diagnosis</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r>
              <a:tr h="475212">
                <a:tc>
                  <a:txBody>
                    <a:bodyPr/>
                    <a:lstStyle/>
                    <a:p>
                      <a:pPr marL="0" marR="0" lvl="0" indent="0">
                        <a:lnSpc>
                          <a:spcPct val="107000"/>
                        </a:lnSpc>
                        <a:spcBef>
                          <a:spcPts val="0"/>
                        </a:spcBef>
                        <a:spcAft>
                          <a:spcPts val="0"/>
                        </a:spcAft>
                        <a:buFont typeface="+mj-lt"/>
                        <a:buNone/>
                      </a:pPr>
                      <a:r>
                        <a:rPr lang="en-PH" sz="1800" dirty="0" smtClean="0">
                          <a:effectLst/>
                        </a:rPr>
                        <a:t>1. Engine </a:t>
                      </a:r>
                      <a:r>
                        <a:rPr lang="en-PH" sz="1800" dirty="0">
                          <a:effectLst/>
                        </a:rPr>
                        <a:t>Clicking noises</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75212">
                <a:tc>
                  <a:txBody>
                    <a:bodyPr/>
                    <a:lstStyle/>
                    <a:p>
                      <a:pPr marL="0" marR="0" lvl="0" indent="0">
                        <a:lnSpc>
                          <a:spcPct val="107000"/>
                        </a:lnSpc>
                        <a:spcBef>
                          <a:spcPts val="0"/>
                        </a:spcBef>
                        <a:spcAft>
                          <a:spcPts val="0"/>
                        </a:spcAft>
                        <a:buFont typeface="+mj-lt"/>
                        <a:buNone/>
                      </a:pPr>
                      <a:r>
                        <a:rPr lang="en-PH" sz="1800" dirty="0" smtClean="0">
                          <a:effectLst/>
                        </a:rPr>
                        <a:t>2. Collapsed </a:t>
                      </a:r>
                      <a:r>
                        <a:rPr lang="en-PH" sz="1800" dirty="0">
                          <a:effectLst/>
                        </a:rPr>
                        <a:t>Lifter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3. Engine </a:t>
                      </a:r>
                      <a:r>
                        <a:rPr lang="en-PH" sz="1800" dirty="0">
                          <a:effectLst/>
                        </a:rPr>
                        <a:t>Valve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75212">
                <a:tc>
                  <a:txBody>
                    <a:bodyPr/>
                    <a:lstStyle/>
                    <a:p>
                      <a:pPr marL="0" marR="0" lvl="0" indent="0">
                        <a:lnSpc>
                          <a:spcPct val="107000"/>
                        </a:lnSpc>
                        <a:spcBef>
                          <a:spcPts val="0"/>
                        </a:spcBef>
                        <a:spcAft>
                          <a:spcPts val="0"/>
                        </a:spcAft>
                        <a:buFont typeface="+mj-lt"/>
                        <a:buNone/>
                      </a:pPr>
                      <a:r>
                        <a:rPr lang="en-PH" sz="1800" dirty="0" smtClean="0">
                          <a:effectLst/>
                        </a:rPr>
                        <a:t>4. Engine </a:t>
                      </a:r>
                      <a:r>
                        <a:rPr lang="en-PH" sz="1800" dirty="0">
                          <a:effectLst/>
                        </a:rPr>
                        <a:t>Bearing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75212">
                <a:tc>
                  <a:txBody>
                    <a:bodyPr/>
                    <a:lstStyle/>
                    <a:p>
                      <a:pPr marL="0" marR="0" lvl="0" indent="0">
                        <a:lnSpc>
                          <a:spcPct val="107000"/>
                        </a:lnSpc>
                        <a:spcBef>
                          <a:spcPts val="0"/>
                        </a:spcBef>
                        <a:spcAft>
                          <a:spcPts val="0"/>
                        </a:spcAft>
                        <a:buFont typeface="+mj-lt"/>
                        <a:buNone/>
                      </a:pPr>
                      <a:r>
                        <a:rPr lang="en-PH" sz="1800" dirty="0" smtClean="0">
                          <a:effectLst/>
                        </a:rPr>
                        <a:t>5. Engine </a:t>
                      </a:r>
                      <a:r>
                        <a:rPr lang="en-PH" sz="1800" dirty="0">
                          <a:effectLst/>
                        </a:rPr>
                        <a:t>pings or knocks</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6. </a:t>
                      </a:r>
                      <a:r>
                        <a:rPr lang="en-PH" sz="1800" dirty="0" err="1" smtClean="0">
                          <a:effectLst/>
                        </a:rPr>
                        <a:t>Valvetrain</a:t>
                      </a:r>
                      <a:r>
                        <a:rPr lang="en-PH" sz="1800" dirty="0" smtClean="0">
                          <a:effectLst/>
                        </a:rPr>
                        <a:t>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7. Piston </a:t>
                      </a:r>
                      <a:r>
                        <a:rPr lang="en-PH" sz="1800" dirty="0">
                          <a:effectLst/>
                        </a:rPr>
                        <a:t>Pin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8. Piston </a:t>
                      </a:r>
                      <a:r>
                        <a:rPr lang="en-PH" sz="1800" dirty="0">
                          <a:effectLst/>
                        </a:rPr>
                        <a:t>Ring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9. Piston </a:t>
                      </a:r>
                      <a:r>
                        <a:rPr lang="en-PH" sz="1800" dirty="0">
                          <a:effectLst/>
                        </a:rPr>
                        <a:t>Slap</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10. Crankshaft Knock</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475212">
                <a:tc>
                  <a:txBody>
                    <a:bodyPr/>
                    <a:lstStyle/>
                    <a:p>
                      <a:pPr marL="0" marR="0" lvl="0" indent="0">
                        <a:lnSpc>
                          <a:spcPct val="107000"/>
                        </a:lnSpc>
                        <a:spcBef>
                          <a:spcPts val="0"/>
                        </a:spcBef>
                        <a:spcAft>
                          <a:spcPts val="0"/>
                        </a:spcAft>
                        <a:buFont typeface="+mj-lt"/>
                        <a:buNone/>
                      </a:pPr>
                      <a:r>
                        <a:rPr lang="en-PH" sz="1800" dirty="0" smtClean="0">
                          <a:effectLst/>
                        </a:rPr>
                        <a:t>11. Connecting </a:t>
                      </a:r>
                      <a:r>
                        <a:rPr lang="en-PH" sz="1800" dirty="0">
                          <a:effectLst/>
                        </a:rPr>
                        <a:t>Rod Noise</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68689">
                <a:tc>
                  <a:txBody>
                    <a:bodyPr/>
                    <a:lstStyle/>
                    <a:p>
                      <a:pPr marL="0" marR="0" lvl="0" indent="0">
                        <a:lnSpc>
                          <a:spcPct val="107000"/>
                        </a:lnSpc>
                        <a:spcBef>
                          <a:spcPts val="0"/>
                        </a:spcBef>
                        <a:spcAft>
                          <a:spcPts val="0"/>
                        </a:spcAft>
                        <a:buFont typeface="+mj-lt"/>
                        <a:buNone/>
                      </a:pPr>
                      <a:r>
                        <a:rPr lang="en-PH" sz="1800" dirty="0" smtClean="0">
                          <a:effectLst/>
                        </a:rPr>
                        <a:t>12. Detonation</a:t>
                      </a: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PH" sz="1100" dirty="0">
                          <a:effectLst/>
                        </a:rPr>
                        <a:t> </a:t>
                      </a:r>
                      <a:endParaRPr lang="en-US" sz="1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5" name="TextBox 4"/>
          <p:cNvSpPr txBox="1"/>
          <p:nvPr/>
        </p:nvSpPr>
        <p:spPr>
          <a:xfrm>
            <a:off x="2111189" y="6285542"/>
            <a:ext cx="7046258" cy="369332"/>
          </a:xfrm>
          <a:prstGeom prst="rect">
            <a:avLst/>
          </a:prstGeom>
          <a:noFill/>
        </p:spPr>
        <p:txBody>
          <a:bodyPr wrap="square" rtlCol="0">
            <a:spAutoFit/>
          </a:bodyPr>
          <a:lstStyle/>
          <a:p>
            <a:r>
              <a:rPr lang="en-PH" dirty="0" smtClean="0"/>
              <a:t>Experiment Paper I- Test </a:t>
            </a:r>
            <a:r>
              <a:rPr lang="en-PH" dirty="0"/>
              <a:t>of accuracy of the application per fault.</a:t>
            </a:r>
            <a:endParaRPr lang="en-US" dirty="0"/>
          </a:p>
        </p:txBody>
      </p:sp>
    </p:spTree>
    <p:extLst>
      <p:ext uri="{BB962C8B-B14F-4D97-AF65-F5344CB8AC3E}">
        <p14:creationId xmlns:p14="http://schemas.microsoft.com/office/powerpoint/2010/main" val="1945331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989" y="94667"/>
            <a:ext cx="10058400" cy="1609344"/>
          </a:xfrm>
        </p:spPr>
        <p:txBody>
          <a:bodyPr/>
          <a:lstStyle/>
          <a:p>
            <a:r>
              <a:rPr lang="en-US" dirty="0"/>
              <a:t>Experiment Paper</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6962795"/>
              </p:ext>
            </p:extLst>
          </p:nvPr>
        </p:nvGraphicFramePr>
        <p:xfrm>
          <a:off x="766482" y="1488858"/>
          <a:ext cx="10179425" cy="4427847"/>
        </p:xfrm>
        <a:graphic>
          <a:graphicData uri="http://schemas.openxmlformats.org/drawingml/2006/table">
            <a:tbl>
              <a:tblPr firstRow="1" firstCol="1" bandRow="1">
                <a:tableStyleId>{5C22544A-7EE6-4342-B048-85BDC9FD1C3A}</a:tableStyleId>
              </a:tblPr>
              <a:tblGrid>
                <a:gridCol w="1371190"/>
                <a:gridCol w="3718013"/>
                <a:gridCol w="5090222"/>
              </a:tblGrid>
              <a:tr h="922143">
                <a:tc>
                  <a:txBody>
                    <a:bodyPr/>
                    <a:lstStyle/>
                    <a:p>
                      <a:pPr marL="0" marR="0" algn="ctr">
                        <a:lnSpc>
                          <a:spcPct val="107000"/>
                        </a:lnSpc>
                        <a:spcBef>
                          <a:spcPts val="0"/>
                        </a:spcBef>
                        <a:spcAft>
                          <a:spcPts val="0"/>
                        </a:spcAft>
                      </a:pPr>
                      <a:r>
                        <a:rPr lang="en-PH" sz="1400">
                          <a:effectLst/>
                        </a:rPr>
                        <a:t>No of Car Faults Present</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600">
                          <a:effectLst/>
                        </a:rPr>
                        <a:t>Classified Car Fault/s</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600" dirty="0">
                          <a:effectLst/>
                        </a:rPr>
                        <a:t>Diagnosis</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r>
              <a:tr h="292142">
                <a:tc>
                  <a:txBody>
                    <a:bodyPr/>
                    <a:lstStyle/>
                    <a:p>
                      <a:pPr marL="0" marR="0" algn="ctr">
                        <a:lnSpc>
                          <a:spcPct val="107000"/>
                        </a:lnSpc>
                        <a:spcBef>
                          <a:spcPts val="0"/>
                        </a:spcBef>
                        <a:spcAft>
                          <a:spcPts val="0"/>
                        </a:spcAft>
                      </a:pPr>
                      <a:r>
                        <a:rPr lang="en-PH" sz="1400">
                          <a:effectLst/>
                        </a:rPr>
                        <a:t>1</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2</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3</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4</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5</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6</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7</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8</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9</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10</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a:effectLst/>
                        </a:rPr>
                        <a:t>11</a:t>
                      </a:r>
                      <a:endParaRPr lang="en-US" sz="14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r h="292142">
                <a:tc>
                  <a:txBody>
                    <a:bodyPr/>
                    <a:lstStyle/>
                    <a:p>
                      <a:pPr marL="0" marR="0" algn="ctr">
                        <a:lnSpc>
                          <a:spcPct val="107000"/>
                        </a:lnSpc>
                        <a:spcBef>
                          <a:spcPts val="0"/>
                        </a:spcBef>
                        <a:spcAft>
                          <a:spcPts val="0"/>
                        </a:spcAft>
                      </a:pPr>
                      <a:r>
                        <a:rPr lang="en-PH" sz="1400" dirty="0">
                          <a:effectLst/>
                        </a:rPr>
                        <a:t>12</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PH" sz="1100">
                          <a:effectLst/>
                        </a:rPr>
                        <a:t> </a:t>
                      </a:r>
                      <a:endParaRPr lang="en-US"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PH" sz="1100" dirty="0">
                          <a:effectLst/>
                        </a:rPr>
                        <a:t> </a:t>
                      </a:r>
                      <a:endParaRPr lang="en-US" sz="1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
        <p:nvSpPr>
          <p:cNvPr id="5" name="Rectangle 4"/>
          <p:cNvSpPr/>
          <p:nvPr/>
        </p:nvSpPr>
        <p:spPr>
          <a:xfrm>
            <a:off x="1676400" y="6238999"/>
            <a:ext cx="7440706" cy="369332"/>
          </a:xfrm>
          <a:prstGeom prst="rect">
            <a:avLst/>
          </a:prstGeom>
        </p:spPr>
        <p:txBody>
          <a:bodyPr wrap="square">
            <a:spAutoFit/>
          </a:bodyPr>
          <a:lstStyle/>
          <a:p>
            <a:r>
              <a:rPr lang="en-US" dirty="0"/>
              <a:t>Experiment Paper </a:t>
            </a:r>
            <a:r>
              <a:rPr lang="en-US" dirty="0" smtClean="0"/>
              <a:t>II- </a:t>
            </a:r>
            <a:r>
              <a:rPr lang="en-PH" dirty="0"/>
              <a:t>Test of accuracy in terms of number of </a:t>
            </a:r>
            <a:r>
              <a:rPr lang="en-PH" dirty="0" smtClean="0"/>
              <a:t>sounds.</a:t>
            </a:r>
            <a:endParaRPr lang="en-US" dirty="0"/>
          </a:p>
        </p:txBody>
      </p:sp>
    </p:spTree>
    <p:extLst>
      <p:ext uri="{BB962C8B-B14F-4D97-AF65-F5344CB8AC3E}">
        <p14:creationId xmlns:p14="http://schemas.microsoft.com/office/powerpoint/2010/main" val="3386979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Wood Type">
      <a:majorFont>
        <a:latin typeface="Arial Black" panose="020B0A040201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panose="020B06040202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BE1B6DD8-9976-4550-A6F4-B2DD4EA939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ood Type">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330</TotalTime>
  <Words>490</Words>
  <Application>Microsoft Office PowerPoint</Application>
  <PresentationFormat>Widescreen</PresentationFormat>
  <Paragraphs>149</Paragraphs>
  <Slides>13</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2" baseType="lpstr">
      <vt:lpstr>Arial</vt:lpstr>
      <vt:lpstr>Arial</vt:lpstr>
      <vt:lpstr>Arial Black</vt:lpstr>
      <vt:lpstr>Calibri</vt:lpstr>
      <vt:lpstr>Cambria Math</vt:lpstr>
      <vt:lpstr>Times New Roman</vt:lpstr>
      <vt:lpstr>Wingdings</vt:lpstr>
      <vt:lpstr>Wood Type</vt:lpstr>
      <vt:lpstr>Visio</vt:lpstr>
      <vt:lpstr>MobiHicleNosis</vt:lpstr>
      <vt:lpstr>PowerPoint Presentation</vt:lpstr>
      <vt:lpstr>PowerPoint Presentation</vt:lpstr>
      <vt:lpstr>Background of the Study</vt:lpstr>
      <vt:lpstr>Statement of the Problem</vt:lpstr>
      <vt:lpstr>Hypothesis</vt:lpstr>
      <vt:lpstr>Research Method</vt:lpstr>
      <vt:lpstr>System Architecture</vt:lpstr>
      <vt:lpstr>PowerPoint Presentation</vt:lpstr>
      <vt:lpstr>Statistical Treatment</vt:lpstr>
      <vt:lpstr>Statistical Treatment</vt:lpstr>
      <vt:lpstr>Experiment Paper</vt:lpstr>
      <vt:lpstr>Experiment Paper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Casandra Miraballes</dc:creator>
  <cp:lastModifiedBy>Casandra Miraballes</cp:lastModifiedBy>
  <cp:revision>30</cp:revision>
  <dcterms:created xsi:type="dcterms:W3CDTF">2015-10-06T16:58:17Z</dcterms:created>
  <dcterms:modified xsi:type="dcterms:W3CDTF">2015-10-08T00:11:27Z</dcterms:modified>
</cp:coreProperties>
</file>